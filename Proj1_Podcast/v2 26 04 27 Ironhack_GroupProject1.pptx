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3" r:id="rId5"/>
    <p:sldId id="266" r:id="rId6"/>
    <p:sldId id="264" r:id="rId7"/>
    <p:sldId id="265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22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AI Podcast Studio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podcast generation from any content source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2781091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1  </a:t>
            </a: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AI Bootcamp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11480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411480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51460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LLM Transform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411480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66344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TTS Audio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4114800"/>
            <a:ext cx="192024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1228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Gradio UI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268ADE0-FFF0-98E2-697F-C361F0DF9D6C}"/>
              </a:ext>
            </a:extLst>
          </p:cNvPr>
          <p:cNvSpPr/>
          <p:nvPr/>
        </p:nvSpPr>
        <p:spPr>
          <a:xfrm>
            <a:off x="396021" y="3143627"/>
            <a:ext cx="8077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Portero | </a:t>
            </a:r>
            <a:r>
              <a:rPr lang="de-DE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Martinez Boto |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Julian Granados | Daria Bystrova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DF9A9-4633-AFC4-1D2F-54EEB7F95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5669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C022E89-B53F-3A9E-F154-508B7B440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942" y="2653734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BA4442CF-DCAC-BBE5-B936-E87930922DF5}"/>
              </a:ext>
            </a:extLst>
          </p:cNvPr>
          <p:cNvSpPr/>
          <p:nvPr/>
        </p:nvSpPr>
        <p:spPr>
          <a:xfrm>
            <a:off x="396021" y="3482550"/>
            <a:ext cx="8077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3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INTRO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&amp; What We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developers · Module 1 Group Project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owned one pipeline stage: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 · LLM Processor 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Generator · Gradio Interface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420624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7091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084832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podcast generator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content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writes the script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speaks it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podcast MP3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overload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articles and PDFs pile up faster than anyone can read them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listen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788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absorb audio 3× faster than reading — but creation takes hours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7889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convert your own documents into listenable audio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paste any source → get a ready-to-play podcast in under 60 seconds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234440"/>
            <a:ext cx="1783080" cy="3063240"/>
          </a:xfrm>
          <a:prstGeom prst="rect">
            <a:avLst/>
          </a:prstGeom>
          <a:solidFill>
            <a:srgbClr val="1E3A5F"/>
          </a:solidFill>
          <a:ln w="254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56032" y="1234440"/>
            <a:ext cx="178308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10896" y="127101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53312" y="1325880"/>
            <a:ext cx="621792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353312" y="13258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7472" y="2496312"/>
            <a:ext cx="1600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47472" y="24963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data_processor.py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" y="288036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URL · 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" y="3319272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data sources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84832" y="2738628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212848" y="26197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02536" y="244832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78024" y="1234440"/>
            <a:ext cx="1783080" cy="3063240"/>
          </a:xfrm>
          <a:prstGeom prst="rect">
            <a:avLst/>
          </a:prstGeom>
          <a:solidFill>
            <a:srgbClr val="1E3A5F"/>
          </a:solidFill>
          <a:ln w="254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2478024" y="1234440"/>
            <a:ext cx="178308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532888" y="127101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575304" y="1325880"/>
            <a:ext cx="621792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575304" y="13258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9464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569464" y="2496312"/>
            <a:ext cx="1600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569464" y="24963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llm_processor.py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51176" y="288036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 ·  temperature 0.5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51176" y="3319272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as a conversation between two speakers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[Speaker1] / [Speaker2]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06824" y="2738628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434840" y="26197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24528" y="244832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0016" y="1234440"/>
            <a:ext cx="1783080" cy="306324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00016" y="1234440"/>
            <a:ext cx="17830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754880" y="127101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797296" y="1325880"/>
            <a:ext cx="621792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797296" y="13258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91456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791456" y="2496312"/>
            <a:ext cx="1600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791456" y="24963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tts_generator.py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73168" y="288036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 ·  pydub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319272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MP3 per 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with 500ms pauses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28816" y="2738628"/>
            <a:ext cx="27432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656832" y="26197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46520" y="2448322"/>
            <a:ext cx="530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1234440"/>
            <a:ext cx="1783080" cy="3063240"/>
          </a:xfrm>
          <a:prstGeom prst="rect">
            <a:avLst/>
          </a:prstGeom>
          <a:solidFill>
            <a:srgbClr val="1E3A5F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6922008" y="1234440"/>
            <a:ext cx="178308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6976872" y="127101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019288" y="1325880"/>
            <a:ext cx="621792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8019288" y="132588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13448" y="1783080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7013448" y="2496312"/>
            <a:ext cx="1600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7013448" y="249631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F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2880360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gr.Interface  ·  browser UI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95160" y="3319272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Submit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Audio player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 flipV="1">
            <a:off x="54864" y="2857500"/>
            <a:ext cx="201168" cy="1828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109728" y="27294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-53285" y="2528316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05088" y="2857500"/>
            <a:ext cx="274320" cy="0"/>
          </a:xfrm>
          <a:prstGeom prst="line">
            <a:avLst/>
          </a:prstGeom>
          <a:noFill/>
          <a:ln w="254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8851392" y="272948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733836" y="2519175"/>
            <a:ext cx="378719" cy="210309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Text 58"/>
          <p:cNvSpPr/>
          <p:nvPr/>
        </p:nvSpPr>
        <p:spPr>
          <a:xfrm>
            <a:off x="8586216" y="2493319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47472" y="4535424"/>
            <a:ext cx="848563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457200" y="453542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plain string passed between every stage  |  </a:t>
            </a: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has one input type and one output type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2286000" cy="301752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2286000" cy="30175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/  DATA PROCESSOR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55218"/>
            <a:ext cx="8631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Text Becomes a Podcast Script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395728" cy="3493008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395728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56032" y="1097280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—  from Data Processor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828800"/>
            <a:ext cx="1847088" cy="219456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30352" y="1828800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  (clean text)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121408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content from: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7824" y="2353100"/>
            <a:ext cx="100584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32104" y="23591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77824" y="2850362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77824" y="28437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from a website</a:t>
            </a:r>
          </a:p>
        </p:txBody>
      </p:sp>
      <p:sp>
        <p:nvSpPr>
          <p:cNvPr id="18" name="Shape 16"/>
          <p:cNvSpPr/>
          <p:nvPr/>
        </p:nvSpPr>
        <p:spPr>
          <a:xfrm>
            <a:off x="896112" y="3374136"/>
            <a:ext cx="100584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77824" y="33589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text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712464"/>
            <a:ext cx="2212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895344"/>
            <a:ext cx="2212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systems must be fair,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transparent and accountable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the people they affect..."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834640" y="1097280"/>
            <a:ext cx="3255264" cy="3493008"/>
          </a:xfrm>
          <a:prstGeom prst="rect">
            <a:avLst/>
          </a:prstGeom>
          <a:solidFill>
            <a:srgbClr val="1E3A5F"/>
          </a:solidFill>
          <a:ln w="254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2834640" y="1097280"/>
            <a:ext cx="3255264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2834640" y="1097280"/>
            <a:ext cx="32552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generate_podcast_script()  —  llm_processor.py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1481328"/>
            <a:ext cx="303580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2944368" y="1481328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Build prompt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44368" y="1773936"/>
            <a:ext cx="3035808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2980944" y="1801368"/>
            <a:ext cx="29626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PROMPT_TEMPLATE = """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podcast script writer.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text into a conversation.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Format: [Speaker1]: ...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Alternate speakers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it natural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{input_text}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108960" y="2615184"/>
            <a:ext cx="0" cy="14630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017520" y="27249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44368" y="2907792"/>
            <a:ext cx="303580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2944368" y="2907792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Call GPT-4o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44368" y="3200400"/>
            <a:ext cx="3035808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2980944" y="3227832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client.chat.completions.create(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model="gpt-4o",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messages=[{"role":"user",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prompt}],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temperature=0.5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108960" y="3931920"/>
            <a:ext cx="0" cy="12801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3017520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44368" y="4206240"/>
            <a:ext cx="303580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2980944" y="4206240"/>
            <a:ext cx="2962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return </a:t>
            </a:r>
            <a:r>
              <a:rPr lang="en-US" sz="900" b="1" dirty="0" err="1">
                <a:solidFill>
                  <a:schemeClr val="bg1"/>
                </a:solidFill>
              </a:rPr>
              <a:t>response.output_text.strip</a:t>
            </a:r>
            <a:r>
              <a:rPr lang="en-US" sz="900" b="1" dirty="0">
                <a:solidFill>
                  <a:schemeClr val="bg1"/>
                </a:solidFill>
              </a:rPr>
              <a:t>()</a:t>
            </a:r>
            <a:endParaRPr lang="en-US" sz="850" b="1" dirty="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7920" y="1078992"/>
            <a:ext cx="2615184" cy="3493008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6217920" y="1091425"/>
            <a:ext cx="2615184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6272784" y="1097280"/>
            <a:ext cx="26151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—  to TTS Generator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64224" y="210312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one line per speaker: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64224" y="2340864"/>
            <a:ext cx="2432304" cy="1060704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400800" y="2377440"/>
            <a:ext cx="235915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[Speaker1]: Welcome! Today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discuss trustworthy AI.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[Speaker2]: Great topic.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Transparency is key.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[Speaker1]: Exactly, and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bias management too.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64224" y="3474720"/>
            <a:ext cx="2432304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6400800" y="3502152"/>
            <a:ext cx="23591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is saved to a string variable “script”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64224" y="402336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as str to: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64224" y="4242816"/>
            <a:ext cx="243230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364224" y="42428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generate_podcast_audio</a:t>
            </a: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70048" y="2843784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2834640" y="271576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459736" y="2569463"/>
            <a:ext cx="484632" cy="210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08192" y="2843784"/>
            <a:ext cx="25603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6272784" y="271576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848213" y="2569464"/>
            <a:ext cx="5342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4617720"/>
            <a:ext cx="8631936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256032" y="4617720"/>
            <a:ext cx="8631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0.5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balanced creativity  |  </a:t>
            </a: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model='gpt-4o'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output saved to  “scrip” variable </a:t>
            </a: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 by tts_generator.py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823960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900" dirty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32902498-FE25-C418-3C67-938178B9F481}"/>
              </a:ext>
            </a:extLst>
          </p:cNvPr>
          <p:cNvSpPr/>
          <p:nvPr/>
        </p:nvSpPr>
        <p:spPr>
          <a:xfrm>
            <a:off x="292608" y="697882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—  from Data Processor</a:t>
            </a:r>
            <a:endParaRPr lang="en-US" sz="1000" dirty="0"/>
          </a:p>
        </p:txBody>
      </p:sp>
      <p:sp>
        <p:nvSpPr>
          <p:cNvPr id="68" name="Shape 0">
            <a:extLst>
              <a:ext uri="{FF2B5EF4-FFF2-40B4-BE49-F238E27FC236}">
                <a16:creationId xmlns:a16="http://schemas.microsoft.com/office/drawing/2014/main" id="{E25DDF1B-A424-7691-D9BB-FC629D8BAF11}"/>
              </a:ext>
            </a:extLst>
          </p:cNvPr>
          <p:cNvSpPr/>
          <p:nvPr/>
        </p:nvSpPr>
        <p:spPr>
          <a:xfrm>
            <a:off x="2816352" y="165096"/>
            <a:ext cx="228600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r>
              <a:rPr lang="de-D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/ LLM </a:t>
            </a:r>
            <a:r>
              <a:rPr lang="de-DE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de-D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23774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/  TTS GENERATOR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Script Becomes Audio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651760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65176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—  from LLM Processor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Script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10512"/>
            <a:ext cx="1883664" cy="219456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1810512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str  (plain string)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084832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[Speaker1]: Today we discuss...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[Speaker2]: Great point, and...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1856232"/>
            <a:ext cx="29260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108960" y="172821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115568"/>
            <a:ext cx="2487168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310128" y="1115568"/>
            <a:ext cx="248716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10128" y="1115568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parse_script()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481328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match per line: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737360"/>
            <a:ext cx="2340864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r"\[(.*?)\]:\s*(.*)"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2048256"/>
            <a:ext cx="23408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extracts speaker + spoken 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skips blank / unmatched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15584" y="1856232"/>
            <a:ext cx="29260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980176" y="172821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81344" y="1115568"/>
            <a:ext cx="2651760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181344" y="1115568"/>
            <a:ext cx="26517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181344" y="111556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—  segments list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148132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 =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54496" y="1719072"/>
            <a:ext cx="2505456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309360" y="1746504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["Speaker1","Today...","alloy"],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["Speaker2","Great...","nova" 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["Speaker1","Let me...","alloy"] 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53712" y="2615184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443984" y="277977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07224" y="2615184"/>
            <a:ext cx="0" cy="20116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7397496" y="277977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871216"/>
            <a:ext cx="2651760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274320" y="2871216"/>
            <a:ext cx="265176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274320" y="28712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MAP  —  speaker → voice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236976"/>
            <a:ext cx="2505456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02336" y="3264408"/>
            <a:ext cx="23957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VOICE_MAP =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"Speaker1": "alloy",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"Speaker2": "nova",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" y="4096512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'alloy' if speaker not in map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44368" y="3611880"/>
            <a:ext cx="292608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3108960" y="348386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310128" y="2871216"/>
            <a:ext cx="2487168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3310128" y="2871216"/>
            <a:ext cx="248716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3310128" y="2871216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generate_tts()  ×  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236976"/>
            <a:ext cx="23408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once per segment: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3493008"/>
            <a:ext cx="2340864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3438144" y="3520440"/>
            <a:ext cx="2231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client.audio.speech.create(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model='tts-1', voice=voice,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input=text)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83280" y="4005072"/>
            <a:ext cx="23408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returns raw MP3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saved as 000_Speaker1.mp3 ...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15584" y="3611880"/>
            <a:ext cx="292608" cy="0"/>
          </a:xfrm>
          <a:prstGeom prst="line">
            <a:avLst/>
          </a:prstGeom>
          <a:noFill/>
          <a:ln w="254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5980176" y="348386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181344" y="2871216"/>
            <a:ext cx="2651760" cy="1481328"/>
          </a:xfrm>
          <a:prstGeom prst="rect">
            <a:avLst/>
          </a:prstGeom>
          <a:solidFill>
            <a:srgbClr val="1E3A5F"/>
          </a:solidFill>
          <a:ln w="254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6181344" y="2871216"/>
            <a:ext cx="2651760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6181344" y="287121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combine_audio()  via pydub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54496" y="323697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all MP3 chunks: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54496" y="3493008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chunk_0  +  500ms pause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54496" y="3749040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chunk_1  +  500ms pause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4496" y="400507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chunk_N  →  export(mp3)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54496" y="4279392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saves final_podcast.mp3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4590288"/>
            <a:ext cx="855878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274320" y="4590288"/>
            <a:ext cx="8558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</a:t>
            </a: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final_podcast.mp3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passed as  </a:t>
            </a:r>
            <a:r>
              <a:rPr lang="en-US" sz="12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audio_path: str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Gradio Interface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823960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237744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256032" y="164592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/  GRADIO INTERFACE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48640"/>
            <a:ext cx="8631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Inputs Are Combined &amp; Audio Is Delivered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" y="75895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File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353312"/>
            <a:ext cx="2395728" cy="749808"/>
          </a:xfrm>
          <a:prstGeom prst="rect">
            <a:avLst/>
          </a:prstGeom>
          <a:solidFill>
            <a:srgbClr val="1E3A5F"/>
          </a:solidFill>
          <a:ln w="254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56032" y="1353312"/>
            <a:ext cx="2395728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29184" y="135331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1645920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gr.File(.pdf)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" y="184708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to data/input.pdf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194560"/>
            <a:ext cx="2395728" cy="749808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256032" y="2194560"/>
            <a:ext cx="239572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29184" y="21945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" y="2487168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DE9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gr.File(.mp3/.wav)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" y="2688336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via Whisper → .txt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2395728" cy="749808"/>
          </a:xfrm>
          <a:prstGeom prst="rect">
            <a:avLst/>
          </a:prstGeom>
          <a:solidFill>
            <a:srgbClr val="1E3A5F"/>
          </a:solidFill>
          <a:ln w="25400">
            <a:solidFill>
              <a:srgbClr val="065F4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56032" y="3035808"/>
            <a:ext cx="2395728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29184" y="3035808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" y="3328416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gr.Textbox()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3529584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data/input_pasted.txt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3464" y="4142232"/>
            <a:ext cx="239572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38328" y="4142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combination — all are optional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35224" y="758952"/>
            <a:ext cx="3127248" cy="3547872"/>
          </a:xfrm>
          <a:prstGeom prst="rect">
            <a:avLst/>
          </a:prstGeom>
          <a:solidFill>
            <a:srgbClr val="1E3A5F"/>
          </a:solidFill>
          <a:ln w="25400">
            <a:solidFill>
              <a:srgbClr val="B45309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935224" y="758952"/>
            <a:ext cx="3127248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2935224" y="758952"/>
            <a:ext cx="3127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run_pipeline()  —  main.py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44952" y="1207008"/>
            <a:ext cx="274320" cy="2743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044952" y="1207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92424" y="11887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inputs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92424" y="140817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at least 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is provided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72968" y="1490472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3044952" y="1700784"/>
            <a:ext cx="274320" cy="27432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3044952" y="1700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92424" y="16824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data/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92424" y="19019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copied/saved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Proj1_Podcast/ folder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72968" y="1984248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3044952" y="219456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3044952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2424" y="21762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load_source()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92424" y="239572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data_processor loads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cleans each source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172968" y="2478024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3044952" y="268833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3044952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92424" y="267004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text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92424" y="28895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joined with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'---' separator + truncate()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72968" y="2971800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3044952" y="318211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3044952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92424" y="31638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generate_script()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92424" y="33832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llm_processor → GPT-4o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podcast script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172968" y="3465576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3044952" y="3675888"/>
            <a:ext cx="274320" cy="2743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3044952" y="3675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92424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generate_audio()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92424" y="387705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tts_generator → MP3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final_podcast.mp3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670048" y="1709928"/>
            <a:ext cx="128016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2761488" y="1605397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70048" y="2551176"/>
            <a:ext cx="128016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2"/>
          <p:cNvSpPr/>
          <p:nvPr/>
        </p:nvSpPr>
        <p:spPr>
          <a:xfrm>
            <a:off x="2761488" y="2446645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670048" y="3392424"/>
            <a:ext cx="128016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2761488" y="3287893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36208" y="765267"/>
            <a:ext cx="2633472" cy="1298448"/>
          </a:xfrm>
          <a:prstGeom prst="rect">
            <a:avLst/>
          </a:prstGeom>
          <a:solidFill>
            <a:srgbClr val="1E3A5F"/>
          </a:solidFill>
          <a:ln w="25400">
            <a:solidFill>
              <a:srgbClr val="B45309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8" name="Shape 66"/>
          <p:cNvSpPr/>
          <p:nvPr/>
        </p:nvSpPr>
        <p:spPr>
          <a:xfrm>
            <a:off x="6245352" y="758952"/>
            <a:ext cx="263347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" name="Text 67"/>
          <p:cNvSpPr/>
          <p:nvPr/>
        </p:nvSpPr>
        <p:spPr>
          <a:xfrm>
            <a:off x="6245352" y="75895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INPUTS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355080" y="1088136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F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gr.Dropdown()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55080" y="128930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educational / news / interview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1545336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F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gr.Textbox()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355080" y="174650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e.g. general public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30361" y="1487906"/>
            <a:ext cx="18288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Text 73"/>
          <p:cNvSpPr/>
          <p:nvPr/>
        </p:nvSpPr>
        <p:spPr>
          <a:xfrm>
            <a:off x="6004253" y="13716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245352" y="2203704"/>
            <a:ext cx="2633472" cy="877824"/>
          </a:xfrm>
          <a:prstGeom prst="rect">
            <a:avLst/>
          </a:prstGeom>
          <a:solidFill>
            <a:srgbClr val="1E3A5F"/>
          </a:solidFill>
          <a:ln w="25400">
            <a:solidFill>
              <a:srgbClr val="065F4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7" name="Shape 75"/>
          <p:cNvSpPr/>
          <p:nvPr/>
        </p:nvSpPr>
        <p:spPr>
          <a:xfrm>
            <a:off x="6245352" y="2203704"/>
            <a:ext cx="2633472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8" name="Text 76"/>
          <p:cNvSpPr/>
          <p:nvPr/>
        </p:nvSpPr>
        <p:spPr>
          <a:xfrm>
            <a:off x="6245352" y="220370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  —  Audio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355080" y="2523744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gr.Audio(type='filepath')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355080" y="2743200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Play  |  ⬇ Download MP3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245352" y="3227832"/>
            <a:ext cx="2633472" cy="877824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2" name="Shape 80"/>
          <p:cNvSpPr/>
          <p:nvPr/>
        </p:nvSpPr>
        <p:spPr>
          <a:xfrm>
            <a:off x="6245352" y="3227832"/>
            <a:ext cx="263347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3" name="Text 81"/>
          <p:cNvSpPr/>
          <p:nvPr/>
        </p:nvSpPr>
        <p:spPr>
          <a:xfrm>
            <a:off x="6245352" y="322783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  —  Script Preview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355080" y="354787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gr.Markdown()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355080" y="374904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Speaker1: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Speaker2: ...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080760" y="2679192"/>
            <a:ext cx="128016" cy="0"/>
          </a:xfrm>
          <a:prstGeom prst="line">
            <a:avLst/>
          </a:prstGeom>
          <a:noFill/>
          <a:ln w="254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7" name="Text 85"/>
          <p:cNvSpPr/>
          <p:nvPr/>
        </p:nvSpPr>
        <p:spPr>
          <a:xfrm>
            <a:off x="6153912" y="256946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26664" y="4014216"/>
            <a:ext cx="2944368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Text 87"/>
          <p:cNvSpPr/>
          <p:nvPr/>
        </p:nvSpPr>
        <p:spPr>
          <a:xfrm>
            <a:off x="3026664" y="4014216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r>
              <a:rPr lang="en-US" sz="9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audio_path: str 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TTS Generator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65176" y="4553711"/>
            <a:ext cx="8631936" cy="37095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1" name="Text 89"/>
          <p:cNvSpPr/>
          <p:nvPr/>
        </p:nvSpPr>
        <p:spPr>
          <a:xfrm>
            <a:off x="325172" y="4563446"/>
            <a:ext cx="8631936" cy="3709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gr.Interface(fn=run_pipeline,  </a:t>
            </a: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inputs=[File, File, File, Textbox, Dropdown, Textbox],  </a:t>
            </a:r>
            <a:r>
              <a:rPr lang="en-US" sz="95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outputs=[Audio, Markdown, Markdown])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8823960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Gradio 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5727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http://localhost:7860 — live in 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579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15798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file / PDF / audio file / paste 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2724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style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educational, news, interview...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310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32841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3284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runs: load → GPT-4o → TTS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95344"/>
            <a:ext cx="502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38953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9136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&amp; share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39136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player appears — press play or download MP3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578578"/>
            <a:ext cx="8412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Live demo — run: python src/main.py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828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&amp;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15338"/>
            <a:ext cx="3931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Learned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stages keeps code testable and replaceable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pydub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merging with pauses makes audio feel natural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on function signatures before coding prevents integration bugs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4206240" cy="2971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709160" y="16276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 We'd Add Next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084832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all given sources are being used and LLM does not hallucinate beyond the sources. 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models results</a:t>
            </a: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voice customisation per project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audio — play while generating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history and regenerate with different styles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integration for premium voices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Spotify-ready RSS feed</a:t>
            </a:r>
          </a:p>
        </p:txBody>
      </p:sp>
      <p:sp>
        <p:nvSpPr>
          <p:cNvPr id="11" name="Text 9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965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TXT/PDF/Audio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8346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514600" y="2834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8346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28346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12280" y="2834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OpenAI GPT-4o + TTS  |  Gradio  |  pydub  |  Python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</Words>
  <Application>Microsoft Office PowerPoint</Application>
  <PresentationFormat>On-screen Show (16:9)</PresentationFormat>
  <Paragraphs>293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Daria Bystrova</cp:lastModifiedBy>
  <cp:revision>12</cp:revision>
  <dcterms:created xsi:type="dcterms:W3CDTF">2026-04-27T15:46:19Z</dcterms:created>
  <dcterms:modified xsi:type="dcterms:W3CDTF">2026-04-27T20:33:02Z</dcterms:modified>
</cp:coreProperties>
</file>